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26" r:id="rId2"/>
    <p:sldId id="356" r:id="rId3"/>
    <p:sldId id="351" r:id="rId4"/>
    <p:sldId id="348" r:id="rId5"/>
    <p:sldId id="352" r:id="rId6"/>
    <p:sldId id="327" r:id="rId7"/>
    <p:sldId id="328" r:id="rId8"/>
    <p:sldId id="329" r:id="rId9"/>
    <p:sldId id="330" r:id="rId10"/>
    <p:sldId id="331" r:id="rId11"/>
    <p:sldId id="353" r:id="rId12"/>
    <p:sldId id="354" r:id="rId13"/>
    <p:sldId id="355" r:id="rId14"/>
    <p:sldId id="35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FF77-AF92-4FAB-9F94-1DF5D6F193B2}" type="datetimeFigureOut">
              <a:rPr lang="es-AR" smtClean="0"/>
              <a:t>22/9/2025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EA5AF5E-BD74-4E87-AA36-B262797BD1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5490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FF77-AF92-4FAB-9F94-1DF5D6F193B2}" type="datetimeFigureOut">
              <a:rPr lang="es-AR" smtClean="0"/>
              <a:t>22/9/2025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5AF5E-BD74-4E87-AA36-B262797BD1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18090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FF77-AF92-4FAB-9F94-1DF5D6F193B2}" type="datetimeFigureOut">
              <a:rPr lang="es-AR" smtClean="0"/>
              <a:t>22/9/2025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EA5AF5E-BD74-4E87-AA36-B262797BD1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49362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FF77-AF92-4FAB-9F94-1DF5D6F193B2}" type="datetimeFigureOut">
              <a:rPr lang="es-AR" smtClean="0"/>
              <a:t>22/9/2025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EA5AF5E-BD74-4E87-AA36-B262797BD1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71863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FF77-AF92-4FAB-9F94-1DF5D6F193B2}" type="datetimeFigureOut">
              <a:rPr lang="es-AR" smtClean="0"/>
              <a:t>22/9/2025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EA5AF5E-BD74-4E87-AA36-B262797BD1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9654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FF77-AF92-4FAB-9F94-1DF5D6F193B2}" type="datetimeFigureOut">
              <a:rPr lang="es-AR" smtClean="0"/>
              <a:t>22/9/2025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5AF5E-BD74-4E87-AA36-B262797BD1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33399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FF77-AF92-4FAB-9F94-1DF5D6F193B2}" type="datetimeFigureOut">
              <a:rPr lang="es-AR" smtClean="0"/>
              <a:t>22/9/2025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5AF5E-BD74-4E87-AA36-B262797BD1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61995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FF77-AF92-4FAB-9F94-1DF5D6F193B2}" type="datetimeFigureOut">
              <a:rPr lang="es-AR" smtClean="0"/>
              <a:t>22/9/2025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5AF5E-BD74-4E87-AA36-B262797BD1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0058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FF77-AF92-4FAB-9F94-1DF5D6F193B2}" type="datetimeFigureOut">
              <a:rPr lang="es-AR" smtClean="0"/>
              <a:t>22/9/2025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EA5AF5E-BD74-4E87-AA36-B262797BD1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85790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FF77-AF92-4FAB-9F94-1DF5D6F193B2}" type="datetimeFigureOut">
              <a:rPr lang="es-AR" smtClean="0"/>
              <a:t>22/9/2025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EA5AF5E-BD74-4E87-AA36-B262797BD1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96171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FF77-AF92-4FAB-9F94-1DF5D6F193B2}" type="datetimeFigureOut">
              <a:rPr lang="es-AR" smtClean="0"/>
              <a:t>22/9/2025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EA5AF5E-BD74-4E87-AA36-B262797BD1D8}" type="slidenum">
              <a:rPr lang="es-AR" smtClean="0"/>
              <a:t>‹Nº›</a:t>
            </a:fld>
            <a:endParaRPr lang="es-A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6862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FF77-AF92-4FAB-9F94-1DF5D6F193B2}" type="datetimeFigureOut">
              <a:rPr lang="es-AR" smtClean="0"/>
              <a:t>22/9/2025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EA5AF5E-BD74-4E87-AA36-B262797BD1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927660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FF77-AF92-4FAB-9F94-1DF5D6F193B2}" type="datetimeFigureOut">
              <a:rPr lang="es-AR" smtClean="0"/>
              <a:t>22/9/2025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EA5AF5E-BD74-4E87-AA36-B262797BD1D8}" type="slidenum">
              <a:rPr lang="es-AR" smtClean="0"/>
              <a:t>‹Nº›</a:t>
            </a:fld>
            <a:endParaRPr lang="es-A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76709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FF77-AF92-4FAB-9F94-1DF5D6F193B2}" type="datetimeFigureOut">
              <a:rPr lang="es-AR" smtClean="0"/>
              <a:t>22/9/2025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EA5AF5E-BD74-4E87-AA36-B262797BD1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883025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FF77-AF92-4FAB-9F94-1DF5D6F193B2}" type="datetimeFigureOut">
              <a:rPr lang="es-AR" smtClean="0"/>
              <a:t>22/9/2025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5AF5E-BD74-4E87-AA36-B262797BD1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554012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FF77-AF92-4FAB-9F94-1DF5D6F193B2}" type="datetimeFigureOut">
              <a:rPr lang="es-AR" smtClean="0"/>
              <a:t>22/9/2025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5AF5E-BD74-4E87-AA36-B262797BD1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359298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rtlCol="0">
            <a:normAutofit/>
          </a:bodyPr>
          <a:lstStyle>
            <a:lvl1pPr algn="l" rtl="0">
              <a:defRPr sz="3400"/>
            </a:lvl1pPr>
          </a:lstStyle>
          <a:p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 rtlCol="0"/>
          <a:lstStyle>
            <a:lvl1pPr marL="0" indent="0" algn="l" rtl="0">
              <a:spcBef>
                <a:spcPts val="0"/>
              </a:spcBef>
              <a:buNone/>
              <a:defRPr sz="16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fecha 3">
            <a:extLst>
              <a:ext uri="{FF2B5EF4-FFF2-40B4-BE49-F238E27FC236}">
                <a16:creationId xmlns:a16="http://schemas.microsoft.com/office/drawing/2014/main" id="{5976EC74-F019-4C67-A244-002F2FE4F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B04FF77-AF92-4FAB-9F94-1DF5D6F193B2}" type="datetimeFigureOut">
              <a:rPr lang="es-AR" smtClean="0"/>
              <a:t>22/9/2025</a:t>
            </a:fld>
            <a:endParaRPr lang="es-AR"/>
          </a:p>
        </p:txBody>
      </p:sp>
      <p:sp>
        <p:nvSpPr>
          <p:cNvPr id="6" name="Marcador de posición de pie de página 4">
            <a:extLst>
              <a:ext uri="{FF2B5EF4-FFF2-40B4-BE49-F238E27FC236}">
                <a16:creationId xmlns:a16="http://schemas.microsoft.com/office/drawing/2014/main" id="{85178E57-0411-4CAB-B4D9-09FA03F7D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AR"/>
          </a:p>
        </p:txBody>
      </p:sp>
      <p:sp>
        <p:nvSpPr>
          <p:cNvPr id="7" name="Marcador de posición de número de diapositiva 5">
            <a:extLst>
              <a:ext uri="{FF2B5EF4-FFF2-40B4-BE49-F238E27FC236}">
                <a16:creationId xmlns:a16="http://schemas.microsoft.com/office/drawing/2014/main" id="{EB76805C-CE61-4D74-8BFC-2C1D82EE1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A5AF5E-BD74-4E87-AA36-B262797BD1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97545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FF77-AF92-4FAB-9F94-1DF5D6F193B2}" type="datetimeFigureOut">
              <a:rPr lang="es-AR" smtClean="0"/>
              <a:t>22/9/2025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EA5AF5E-BD74-4E87-AA36-B262797BD1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58723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itlab.com/so-unlam/Material-SOA/-/tree/master/Ejemplos%20SE/UsoCpuMemESP32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00138A-99E7-8577-47D4-99D562C82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3048" y="548695"/>
            <a:ext cx="8911687" cy="1280890"/>
          </a:xfrm>
        </p:spPr>
        <p:txBody>
          <a:bodyPr/>
          <a:lstStyle/>
          <a:p>
            <a:pPr algn="ctr"/>
            <a:r>
              <a:rPr lang="es-MX" sz="4000" b="1" dirty="0">
                <a:solidFill>
                  <a:srgbClr val="003300"/>
                </a:solidFill>
                <a:latin typeface="+mn-lt"/>
              </a:rPr>
              <a:t>Actividad Práctica sobre</a:t>
            </a:r>
            <a:endParaRPr lang="es-AR" sz="4000" b="1" dirty="0">
              <a:solidFill>
                <a:srgbClr val="003300"/>
              </a:solidFill>
              <a:latin typeface="+mn-lt"/>
            </a:endParaRPr>
          </a:p>
        </p:txBody>
      </p:sp>
      <p:pic>
        <p:nvPicPr>
          <p:cNvPr id="5" name="Marcador de contenido 4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E10D5B4D-E700-4520-D9A8-833ACB86F6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940" y="2508448"/>
            <a:ext cx="5450120" cy="2725060"/>
          </a:xfr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FCAD698C-B392-AB71-00FB-E75E6B38FA5C}"/>
              </a:ext>
            </a:extLst>
          </p:cNvPr>
          <p:cNvSpPr txBox="1">
            <a:spLocks noChangeArrowheads="1"/>
          </p:cNvSpPr>
          <p:nvPr/>
        </p:nvSpPr>
        <p:spPr>
          <a:xfrm rot="20597640">
            <a:off x="1689594" y="2511733"/>
            <a:ext cx="5862929" cy="45701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 fontScale="7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defRPr/>
            </a:pPr>
            <a:r>
              <a:rPr lang="es-ES" altLang="es-AR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</a:rPr>
              <a:t>Crear una solución IoT</a:t>
            </a:r>
            <a:endParaRPr lang="es-AR" altLang="es-AR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1863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F50D0BBB-813D-2E2D-9AEC-D1D1597BEB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338" y="188913"/>
            <a:ext cx="12192000" cy="1423179"/>
          </a:xfrm>
        </p:spPr>
        <p:txBody>
          <a:bodyPr>
            <a:normAutofit/>
          </a:bodyPr>
          <a:lstStyle/>
          <a:p>
            <a:pPr algn="ctr">
              <a:defRPr/>
            </a:pPr>
            <a:br>
              <a:rPr lang="es-ES" altLang="es-AR" sz="4000" b="1" dirty="0">
                <a:solidFill>
                  <a:srgbClr val="003300"/>
                </a:solidFill>
                <a:latin typeface="+mn-lt"/>
              </a:rPr>
            </a:br>
            <a:r>
              <a:rPr lang="es-ES" altLang="es-AR" sz="4000" b="1" dirty="0">
                <a:solidFill>
                  <a:srgbClr val="003300"/>
                </a:solidFill>
                <a:latin typeface="+mn-lt"/>
              </a:rPr>
              <a:t>Actividad Práctica N°2</a:t>
            </a:r>
            <a:endParaRPr lang="es-AR" altLang="es-AR" sz="3600" b="1" dirty="0">
              <a:solidFill>
                <a:srgbClr val="003300"/>
              </a:solidFill>
              <a:latin typeface="+mn-lt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1153534-F198-484D-AB33-A955BE295925}"/>
              </a:ext>
            </a:extLst>
          </p:cNvPr>
          <p:cNvSpPr/>
          <p:nvPr/>
        </p:nvSpPr>
        <p:spPr>
          <a:xfrm>
            <a:off x="3594493" y="2429107"/>
            <a:ext cx="4750019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Usuario de git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22E02AB-9EA2-4C4A-BA85-54CEE702C502}"/>
              </a:ext>
            </a:extLst>
          </p:cNvPr>
          <p:cNvSpPr txBox="1">
            <a:spLocks noChangeArrowheads="1"/>
          </p:cNvSpPr>
          <p:nvPr/>
        </p:nvSpPr>
        <p:spPr>
          <a:xfrm rot="20597640">
            <a:off x="2460231" y="2188037"/>
            <a:ext cx="3647048" cy="45701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 fontScale="7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defRPr/>
            </a:pPr>
            <a:r>
              <a:rPr lang="es-ES" altLang="es-AR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</a:rPr>
              <a:t>Importante</a:t>
            </a:r>
            <a:endParaRPr lang="es-AR" altLang="es-AR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44558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F50D0BBB-813D-2E2D-9AEC-D1D1597BEB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338" y="188913"/>
            <a:ext cx="12192000" cy="1423179"/>
          </a:xfrm>
        </p:spPr>
        <p:txBody>
          <a:bodyPr>
            <a:normAutofit/>
          </a:bodyPr>
          <a:lstStyle/>
          <a:p>
            <a:pPr algn="ctr">
              <a:defRPr/>
            </a:pPr>
            <a:br>
              <a:rPr lang="es-ES" altLang="es-AR" sz="4000" b="1" dirty="0">
                <a:solidFill>
                  <a:srgbClr val="003300"/>
                </a:solidFill>
                <a:latin typeface="+mn-lt"/>
              </a:rPr>
            </a:br>
            <a:r>
              <a:rPr lang="es-ES" altLang="es-AR" sz="4000" b="1" dirty="0">
                <a:solidFill>
                  <a:srgbClr val="003300"/>
                </a:solidFill>
                <a:latin typeface="+mn-lt"/>
              </a:rPr>
              <a:t>Actividad Práctica N°2</a:t>
            </a:r>
            <a:endParaRPr lang="es-AR" altLang="es-AR" sz="3600" b="1" dirty="0">
              <a:solidFill>
                <a:srgbClr val="003300"/>
              </a:solidFill>
              <a:latin typeface="+mn-lt"/>
            </a:endParaRP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A384BABC-F5F9-4261-73FA-31E0B76B81C0}"/>
              </a:ext>
            </a:extLst>
          </p:cNvPr>
          <p:cNvSpPr txBox="1">
            <a:spLocks/>
          </p:cNvSpPr>
          <p:nvPr/>
        </p:nvSpPr>
        <p:spPr>
          <a:xfrm>
            <a:off x="4594698" y="1617918"/>
            <a:ext cx="2778868" cy="648512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  <a:defRPr/>
            </a:pPr>
            <a:r>
              <a:rPr lang="es-ES" sz="3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YouYuan" panose="02010509060101010101" pitchFamily="49" charset="-122"/>
                <a:cs typeface="+mj-cs"/>
              </a:rPr>
              <a:t>Parte 1</a:t>
            </a:r>
            <a:endParaRPr lang="es-ES" sz="4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ea typeface="YouYuan" panose="02010509060101010101" pitchFamily="49" charset="-122"/>
              <a:cs typeface="+mj-cs"/>
            </a:endParaRP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5EB534E1-8AC8-8C10-3537-04F641E12B73}"/>
              </a:ext>
            </a:extLst>
          </p:cNvPr>
          <p:cNvSpPr txBox="1">
            <a:spLocks/>
          </p:cNvSpPr>
          <p:nvPr/>
        </p:nvSpPr>
        <p:spPr>
          <a:xfrm>
            <a:off x="4594698" y="2637584"/>
            <a:ext cx="2778868" cy="648512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  <a:defRPr/>
            </a:pPr>
            <a:r>
              <a:rPr lang="es-ES" sz="3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YouYuan" panose="02010509060101010101" pitchFamily="49" charset="-122"/>
                <a:cs typeface="+mj-cs"/>
              </a:rPr>
              <a:t>Parte 2</a:t>
            </a:r>
            <a:endParaRPr lang="es-ES" sz="4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ea typeface="YouYuan" panose="02010509060101010101" pitchFamily="49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32809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E99DC62-D3AD-B65F-F00C-BB85EFBE0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930" y="2420617"/>
            <a:ext cx="1978357" cy="3981366"/>
          </a:xfrm>
          <a:prstGeom prst="rect">
            <a:avLst/>
          </a:prstGeom>
        </p:spPr>
      </p:pic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6AF756BC-E5FA-7822-ABD0-E780254972E3}"/>
              </a:ext>
            </a:extLst>
          </p:cNvPr>
          <p:cNvSpPr/>
          <p:nvPr/>
        </p:nvSpPr>
        <p:spPr>
          <a:xfrm>
            <a:off x="3218952" y="4043735"/>
            <a:ext cx="690664" cy="3793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Flecha: a la izquierda y derecha 9">
            <a:extLst>
              <a:ext uri="{FF2B5EF4-FFF2-40B4-BE49-F238E27FC236}">
                <a16:creationId xmlns:a16="http://schemas.microsoft.com/office/drawing/2014/main" id="{68F9610E-41B3-4FDD-AA3D-41236BADFF2F}"/>
              </a:ext>
            </a:extLst>
          </p:cNvPr>
          <p:cNvSpPr/>
          <p:nvPr/>
        </p:nvSpPr>
        <p:spPr>
          <a:xfrm>
            <a:off x="6907836" y="3964811"/>
            <a:ext cx="1018095" cy="34643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3814490-96E3-4AAB-4F45-B59BD4411FA2}"/>
              </a:ext>
            </a:extLst>
          </p:cNvPr>
          <p:cNvSpPr/>
          <p:nvPr/>
        </p:nvSpPr>
        <p:spPr>
          <a:xfrm>
            <a:off x="596729" y="2616918"/>
            <a:ext cx="2670228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Circuito Simulado</a:t>
            </a:r>
            <a:endParaRPr lang="es-E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64C0003-C68C-FD3B-28F8-B738EBB4B871}"/>
              </a:ext>
            </a:extLst>
          </p:cNvPr>
          <p:cNvSpPr/>
          <p:nvPr/>
        </p:nvSpPr>
        <p:spPr>
          <a:xfrm>
            <a:off x="4150932" y="2720271"/>
            <a:ext cx="2379416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Circuito Físico</a:t>
            </a:r>
            <a:endParaRPr lang="es-E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9" name="Picture 2" descr="Red Pill And Blue Pill Iphone Wallpaper - XFXWallpapers">
            <a:extLst>
              <a:ext uri="{FF2B5EF4-FFF2-40B4-BE49-F238E27FC236}">
                <a16:creationId xmlns:a16="http://schemas.microsoft.com/office/drawing/2014/main" id="{44466B8C-21C4-79D6-3D1F-BC5A028CDC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99" t="39500" r="53801" b="39747"/>
          <a:stretch/>
        </p:blipFill>
        <p:spPr bwMode="auto">
          <a:xfrm>
            <a:off x="1589899" y="240910"/>
            <a:ext cx="792088" cy="1423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ítulo 1">
            <a:extLst>
              <a:ext uri="{FF2B5EF4-FFF2-40B4-BE49-F238E27FC236}">
                <a16:creationId xmlns:a16="http://schemas.microsoft.com/office/drawing/2014/main" id="{4A114C66-D491-7457-A1A8-9C1502A112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338" y="188913"/>
            <a:ext cx="12192000" cy="1423179"/>
          </a:xfrm>
        </p:spPr>
        <p:txBody>
          <a:bodyPr>
            <a:normAutofit/>
          </a:bodyPr>
          <a:lstStyle/>
          <a:p>
            <a:pPr algn="ctr">
              <a:defRPr/>
            </a:pPr>
            <a:br>
              <a:rPr lang="es-ES" altLang="es-AR" sz="4000" b="1" dirty="0">
                <a:solidFill>
                  <a:srgbClr val="003300"/>
                </a:solidFill>
                <a:latin typeface="+mn-lt"/>
              </a:rPr>
            </a:br>
            <a:r>
              <a:rPr lang="es-ES" altLang="es-AR" sz="4000" b="1" dirty="0">
                <a:solidFill>
                  <a:srgbClr val="003300"/>
                </a:solidFill>
                <a:latin typeface="+mn-lt"/>
              </a:rPr>
              <a:t>Trabajo Práctico N°2</a:t>
            </a:r>
            <a:endParaRPr lang="es-AR" altLang="es-AR" sz="3600" b="1" dirty="0">
              <a:solidFill>
                <a:srgbClr val="003300"/>
              </a:solidFill>
              <a:latin typeface="+mn-lt"/>
            </a:endParaRPr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33176E03-67FA-50AB-50B9-875C721558B2}"/>
              </a:ext>
            </a:extLst>
          </p:cNvPr>
          <p:cNvSpPr txBox="1">
            <a:spLocks/>
          </p:cNvSpPr>
          <p:nvPr/>
        </p:nvSpPr>
        <p:spPr>
          <a:xfrm>
            <a:off x="4594698" y="1617918"/>
            <a:ext cx="2778868" cy="648512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  <a:defRPr/>
            </a:pPr>
            <a:r>
              <a:rPr lang="es-ES" sz="3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YouYuan" panose="02010509060101010101" pitchFamily="49" charset="-122"/>
                <a:cs typeface="+mj-cs"/>
              </a:rPr>
              <a:t>Parte 1</a:t>
            </a:r>
            <a:endParaRPr lang="es-ES" sz="4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ea typeface="YouYuan" panose="02010509060101010101" pitchFamily="49" charset="-122"/>
              <a:cs typeface="+mj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F948905-9FC7-4EFC-AC57-D3BEB3EDF0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159" y="3234964"/>
            <a:ext cx="2400300" cy="1905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B07BB6B-9B92-4475-83BC-0A99E2D20D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624" y="3567806"/>
            <a:ext cx="2550363" cy="74734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BA86F84-F37C-4B87-A802-8947665402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8760" y="2865536"/>
            <a:ext cx="1849896" cy="3115155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42D46BD2-B5A8-48C6-9D98-F65BD78D54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5437" y="2479462"/>
            <a:ext cx="1873407" cy="392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19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E99DC62-D3AD-B65F-F00C-BB85EFBE0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930" y="2420617"/>
            <a:ext cx="1978357" cy="3981366"/>
          </a:xfrm>
          <a:prstGeom prst="rect">
            <a:avLst/>
          </a:prstGeom>
        </p:spPr>
      </p:pic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6AF756BC-E5FA-7822-ABD0-E780254972E3}"/>
              </a:ext>
            </a:extLst>
          </p:cNvPr>
          <p:cNvSpPr/>
          <p:nvPr/>
        </p:nvSpPr>
        <p:spPr>
          <a:xfrm>
            <a:off x="3218952" y="4043735"/>
            <a:ext cx="690664" cy="3793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Flecha: a la izquierda y derecha 9">
            <a:extLst>
              <a:ext uri="{FF2B5EF4-FFF2-40B4-BE49-F238E27FC236}">
                <a16:creationId xmlns:a16="http://schemas.microsoft.com/office/drawing/2014/main" id="{68F9610E-41B3-4FDD-AA3D-41236BADFF2F}"/>
              </a:ext>
            </a:extLst>
          </p:cNvPr>
          <p:cNvSpPr/>
          <p:nvPr/>
        </p:nvSpPr>
        <p:spPr>
          <a:xfrm>
            <a:off x="6907836" y="3964811"/>
            <a:ext cx="1018095" cy="34643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3814490-96E3-4AAB-4F45-B59BD4411FA2}"/>
              </a:ext>
            </a:extLst>
          </p:cNvPr>
          <p:cNvSpPr/>
          <p:nvPr/>
        </p:nvSpPr>
        <p:spPr>
          <a:xfrm>
            <a:off x="596729" y="2616918"/>
            <a:ext cx="2670228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Circuito Simulado</a:t>
            </a:r>
            <a:endParaRPr lang="es-E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64C0003-C68C-FD3B-28F8-B738EBB4B871}"/>
              </a:ext>
            </a:extLst>
          </p:cNvPr>
          <p:cNvSpPr/>
          <p:nvPr/>
        </p:nvSpPr>
        <p:spPr>
          <a:xfrm>
            <a:off x="4150932" y="2720271"/>
            <a:ext cx="2379416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Circuito Físico</a:t>
            </a:r>
            <a:endParaRPr lang="es-E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9" name="Picture 2" descr="Red Pill And Blue Pill Iphone Wallpaper - XFXWallpapers">
            <a:extLst>
              <a:ext uri="{FF2B5EF4-FFF2-40B4-BE49-F238E27FC236}">
                <a16:creationId xmlns:a16="http://schemas.microsoft.com/office/drawing/2014/main" id="{44466B8C-21C4-79D6-3D1F-BC5A028CDC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99" t="39500" r="53801" b="39747"/>
          <a:stretch/>
        </p:blipFill>
        <p:spPr bwMode="auto">
          <a:xfrm>
            <a:off x="1589899" y="240910"/>
            <a:ext cx="792088" cy="1423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ítulo 1">
            <a:extLst>
              <a:ext uri="{FF2B5EF4-FFF2-40B4-BE49-F238E27FC236}">
                <a16:creationId xmlns:a16="http://schemas.microsoft.com/office/drawing/2014/main" id="{4A114C66-D491-7457-A1A8-9C1502A112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338" y="188913"/>
            <a:ext cx="12192000" cy="1423179"/>
          </a:xfrm>
        </p:spPr>
        <p:txBody>
          <a:bodyPr>
            <a:normAutofit/>
          </a:bodyPr>
          <a:lstStyle/>
          <a:p>
            <a:pPr algn="ctr">
              <a:defRPr/>
            </a:pPr>
            <a:br>
              <a:rPr lang="es-ES" altLang="es-AR" sz="4000" b="1" dirty="0">
                <a:solidFill>
                  <a:srgbClr val="003300"/>
                </a:solidFill>
                <a:latin typeface="+mn-lt"/>
              </a:rPr>
            </a:br>
            <a:r>
              <a:rPr lang="es-ES" altLang="es-AR" sz="4000" b="1" dirty="0">
                <a:solidFill>
                  <a:srgbClr val="003300"/>
                </a:solidFill>
                <a:latin typeface="+mn-lt"/>
              </a:rPr>
              <a:t>Trabajo Práctico N°2</a:t>
            </a:r>
            <a:endParaRPr lang="es-AR" altLang="es-AR" sz="3600" b="1" dirty="0">
              <a:solidFill>
                <a:srgbClr val="003300"/>
              </a:solidFill>
              <a:latin typeface="+mn-lt"/>
            </a:endParaRPr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33176E03-67FA-50AB-50B9-875C721558B2}"/>
              </a:ext>
            </a:extLst>
          </p:cNvPr>
          <p:cNvSpPr txBox="1">
            <a:spLocks/>
          </p:cNvSpPr>
          <p:nvPr/>
        </p:nvSpPr>
        <p:spPr>
          <a:xfrm>
            <a:off x="4594698" y="1617918"/>
            <a:ext cx="2778868" cy="648512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  <a:defRPr/>
            </a:pPr>
            <a:r>
              <a:rPr lang="es-ES" sz="3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YouYuan" panose="02010509060101010101" pitchFamily="49" charset="-122"/>
                <a:cs typeface="+mj-cs"/>
              </a:rPr>
              <a:t>Parte 1</a:t>
            </a:r>
            <a:endParaRPr lang="es-ES" sz="4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ea typeface="YouYuan" panose="02010509060101010101" pitchFamily="49" charset="-122"/>
              <a:cs typeface="+mj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F948905-9FC7-4EFC-AC57-D3BEB3EDF0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159" y="3234964"/>
            <a:ext cx="2400300" cy="1905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B07BB6B-9B92-4475-83BC-0A99E2D20D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624" y="3567806"/>
            <a:ext cx="2550363" cy="74734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BA86F84-F37C-4B87-A802-8947665402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8760" y="2865536"/>
            <a:ext cx="1849896" cy="3115155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4FD6D4AB-1DC7-49DD-9EF7-F91BD40B77AE}"/>
              </a:ext>
            </a:extLst>
          </p:cNvPr>
          <p:cNvSpPr txBox="1"/>
          <p:nvPr/>
        </p:nvSpPr>
        <p:spPr>
          <a:xfrm rot="19794434">
            <a:off x="6470743" y="1971242"/>
            <a:ext cx="166584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MX" dirty="0"/>
              <a:t>TP Integrador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42914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Red Pill And Blue Pill Iphone Wallpaper - XFXWallpapers">
            <a:extLst>
              <a:ext uri="{FF2B5EF4-FFF2-40B4-BE49-F238E27FC236}">
                <a16:creationId xmlns:a16="http://schemas.microsoft.com/office/drawing/2014/main" id="{5B12CC2E-E975-69FB-88EE-8C8E6F2AEB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99" t="39500" r="53801" b="39747"/>
          <a:stretch/>
        </p:blipFill>
        <p:spPr bwMode="auto">
          <a:xfrm>
            <a:off x="1589899" y="240910"/>
            <a:ext cx="792088" cy="1423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2A4FCFA8-BE47-8198-0C80-625D3B234F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338" y="188913"/>
            <a:ext cx="12192000" cy="1423179"/>
          </a:xfrm>
        </p:spPr>
        <p:txBody>
          <a:bodyPr>
            <a:normAutofit/>
          </a:bodyPr>
          <a:lstStyle/>
          <a:p>
            <a:pPr algn="ctr">
              <a:defRPr/>
            </a:pPr>
            <a:br>
              <a:rPr lang="es-ES" altLang="es-AR" sz="4000" b="1" dirty="0">
                <a:solidFill>
                  <a:srgbClr val="003300"/>
                </a:solidFill>
                <a:latin typeface="+mn-lt"/>
              </a:rPr>
            </a:br>
            <a:r>
              <a:rPr lang="es-ES" altLang="es-AR" sz="4000" b="1" dirty="0">
                <a:solidFill>
                  <a:srgbClr val="003300"/>
                </a:solidFill>
                <a:latin typeface="+mn-lt"/>
              </a:rPr>
              <a:t>Trabajo Práctico N°2</a:t>
            </a:r>
            <a:endParaRPr lang="es-AR" altLang="es-AR" sz="3600" b="1" dirty="0">
              <a:solidFill>
                <a:srgbClr val="003300"/>
              </a:solidFill>
              <a:latin typeface="+mn-l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C5F0ECA-8DA9-4D83-931E-98EA9EEB0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234" y="1904470"/>
            <a:ext cx="8124541" cy="176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01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Red Pill And Blue Pill Iphone Wallpaper - XFXWallpapers">
            <a:extLst>
              <a:ext uri="{FF2B5EF4-FFF2-40B4-BE49-F238E27FC236}">
                <a16:creationId xmlns:a16="http://schemas.microsoft.com/office/drawing/2014/main" id="{5B12CC2E-E975-69FB-88EE-8C8E6F2AEB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99" t="39500" r="53801" b="39747"/>
          <a:stretch/>
        </p:blipFill>
        <p:spPr bwMode="auto">
          <a:xfrm>
            <a:off x="1589899" y="240910"/>
            <a:ext cx="792088" cy="1423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ubtítulo 2">
            <a:extLst>
              <a:ext uri="{FF2B5EF4-FFF2-40B4-BE49-F238E27FC236}">
                <a16:creationId xmlns:a16="http://schemas.microsoft.com/office/drawing/2014/main" id="{6B1FB1BF-D74A-CFDD-95E6-28B829BA14CB}"/>
              </a:ext>
            </a:extLst>
          </p:cNvPr>
          <p:cNvSpPr txBox="1">
            <a:spLocks/>
          </p:cNvSpPr>
          <p:nvPr/>
        </p:nvSpPr>
        <p:spPr>
          <a:xfrm>
            <a:off x="1589899" y="1851497"/>
            <a:ext cx="10058400" cy="3768467"/>
          </a:xfrm>
          <a:prstGeom prst="rect">
            <a:avLst/>
          </a:prstGeom>
          <a:noFill/>
          <a:ln w="15875" cap="rnd" cmpd="sng" algn="ctr"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Arial" panose="02080604020202020204" charset="0"/>
              <a:buNone/>
              <a:defRPr/>
            </a:pPr>
            <a:r>
              <a:rPr lang="es-ES" sz="2500" b="1" dirty="0">
                <a:solidFill>
                  <a:srgbClr val="FF0000"/>
                </a:solidFill>
                <a:ea typeface="YouYuan" panose="02010509060101010101" pitchFamily="49" charset="-122"/>
                <a:cs typeface="+mj-cs"/>
              </a:rPr>
              <a:t>Usar los repositorios </a:t>
            </a:r>
            <a:r>
              <a:rPr lang="es-ES" sz="2500" b="1" dirty="0" err="1">
                <a:solidFill>
                  <a:srgbClr val="FF0000"/>
                </a:solidFill>
                <a:ea typeface="YouYuan" panose="02010509060101010101" pitchFamily="49" charset="-122"/>
                <a:cs typeface="+mj-cs"/>
              </a:rPr>
              <a:t>Github</a:t>
            </a:r>
            <a:r>
              <a:rPr lang="es-ES" sz="2500" b="1" dirty="0">
                <a:solidFill>
                  <a:srgbClr val="FF0000"/>
                </a:solidFill>
                <a:ea typeface="YouYuan" panose="02010509060101010101" pitchFamily="49" charset="-122"/>
                <a:cs typeface="+mj-cs"/>
              </a:rPr>
              <a:t> asignados a cada grupo.</a:t>
            </a:r>
          </a:p>
          <a:p>
            <a:pPr algn="just">
              <a:buFont typeface="Arial" panose="02080604020202020204" charset="0"/>
              <a:buNone/>
              <a:defRPr/>
            </a:pPr>
            <a:endParaRPr lang="es-ES" sz="2500" dirty="0">
              <a:solidFill>
                <a:schemeClr val="tx1"/>
              </a:solidFill>
              <a:ea typeface="YouYuan" panose="02010509060101010101" pitchFamily="49" charset="-122"/>
              <a:cs typeface="+mj-cs"/>
            </a:endParaRPr>
          </a:p>
          <a:p>
            <a:pPr>
              <a:buFont typeface="Wingdings" panose="05000000000000000000" pitchFamily="2" charset="2"/>
              <a:buChar char="q"/>
              <a:defRPr/>
            </a:pPr>
            <a:r>
              <a:rPr lang="es-ES" sz="2500" b="1" u="sng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Embebido: </a:t>
            </a:r>
            <a:r>
              <a:rPr lang="es-ES" sz="2500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Archivo .INO y bibliotecas</a:t>
            </a:r>
          </a:p>
          <a:p>
            <a:pPr lvl="1">
              <a:buFont typeface="Wingdings" panose="05000000000000000000" pitchFamily="2" charset="2"/>
              <a:buChar char="q"/>
              <a:defRPr/>
            </a:pPr>
            <a:r>
              <a:rPr lang="es-ES" sz="2300" b="1" dirty="0" err="1">
                <a:solidFill>
                  <a:srgbClr val="0070C0"/>
                </a:solidFill>
                <a:ea typeface="YouYuan" panose="02010509060101010101" pitchFamily="49" charset="-122"/>
                <a:cs typeface="+mj-cs"/>
              </a:rPr>
              <a:t>Proyecto_sin_vibecoding</a:t>
            </a:r>
            <a:r>
              <a:rPr lang="es-ES" sz="2300" b="1" dirty="0">
                <a:solidFill>
                  <a:srgbClr val="0070C0"/>
                </a:solidFill>
                <a:ea typeface="YouYuan" panose="02010509060101010101" pitchFamily="49" charset="-122"/>
                <a:cs typeface="+mj-cs"/>
              </a:rPr>
              <a:t> </a:t>
            </a:r>
          </a:p>
          <a:p>
            <a:pPr lvl="1">
              <a:buFont typeface="Wingdings" panose="05000000000000000000" pitchFamily="2" charset="2"/>
              <a:buChar char="q"/>
              <a:defRPr/>
            </a:pPr>
            <a:r>
              <a:rPr lang="es-ES" sz="2300" b="1" dirty="0" err="1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Proyecto_con_vibecoding</a:t>
            </a:r>
            <a:endParaRPr lang="es-ES" sz="2300" b="1" dirty="0">
              <a:solidFill>
                <a:schemeClr val="tx1"/>
              </a:solidFill>
              <a:ea typeface="YouYuan" panose="02010509060101010101" pitchFamily="49" charset="-122"/>
              <a:cs typeface="+mj-cs"/>
            </a:endParaRPr>
          </a:p>
          <a:p>
            <a:pPr>
              <a:buFont typeface="Wingdings" panose="05000000000000000000" pitchFamily="2" charset="2"/>
              <a:buChar char="q"/>
              <a:defRPr/>
            </a:pPr>
            <a:r>
              <a:rPr lang="es-ES" sz="2500" b="1" u="sng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Android: </a:t>
            </a:r>
            <a:r>
              <a:rPr lang="es-ES" sz="2500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Proyecto de Android Studio</a:t>
            </a:r>
          </a:p>
          <a:p>
            <a:pPr>
              <a:buFont typeface="Wingdings" panose="05000000000000000000" pitchFamily="2" charset="2"/>
              <a:buChar char="q"/>
              <a:defRPr/>
            </a:pPr>
            <a:r>
              <a:rPr lang="es-ES" sz="2500" b="1" u="sng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Informe: </a:t>
            </a:r>
            <a:r>
              <a:rPr lang="es-ES" sz="2500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Informes realizados en las actividades prácticas</a:t>
            </a:r>
            <a:r>
              <a:rPr lang="es-ES" sz="2500" u="sng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 </a:t>
            </a:r>
            <a:endParaRPr lang="es-ES" sz="2500" b="1" u="sng" dirty="0">
              <a:solidFill>
                <a:schemeClr val="tx1"/>
              </a:solidFill>
              <a:ea typeface="YouYuan" panose="02010509060101010101" pitchFamily="49" charset="-122"/>
              <a:cs typeface="+mj-cs"/>
            </a:endParaRPr>
          </a:p>
          <a:p>
            <a:pPr marL="457200" lvl="1" indent="0" algn="ctr">
              <a:buNone/>
              <a:defRPr/>
            </a:pPr>
            <a:endParaRPr lang="es-ES" sz="3800" dirty="0">
              <a:solidFill>
                <a:srgbClr val="003300"/>
              </a:solidFill>
              <a:ea typeface="YouYuan" panose="02010509060101010101" pitchFamily="49" charset="-122"/>
              <a:cs typeface="+mj-cs"/>
            </a:endParaRPr>
          </a:p>
          <a:p>
            <a:pPr algn="ctr">
              <a:defRPr/>
            </a:pPr>
            <a:endParaRPr lang="es-ES" sz="4000" dirty="0">
              <a:solidFill>
                <a:srgbClr val="003300"/>
              </a:solidFill>
              <a:ea typeface="YouYuan" panose="02010509060101010101" pitchFamily="49" charset="-122"/>
              <a:cs typeface="+mj-cs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EC28C48-7838-F7A8-C3AB-3A12634C67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338" y="188913"/>
            <a:ext cx="12192000" cy="1423179"/>
          </a:xfrm>
        </p:spPr>
        <p:txBody>
          <a:bodyPr>
            <a:normAutofit/>
          </a:bodyPr>
          <a:lstStyle/>
          <a:p>
            <a:pPr algn="ctr">
              <a:defRPr/>
            </a:pPr>
            <a:br>
              <a:rPr lang="es-ES" altLang="es-AR" sz="4000" b="1" dirty="0">
                <a:solidFill>
                  <a:srgbClr val="003300"/>
                </a:solidFill>
                <a:latin typeface="+mn-lt"/>
              </a:rPr>
            </a:br>
            <a:r>
              <a:rPr lang="es-ES" altLang="es-AR" sz="4000" b="1" dirty="0">
                <a:solidFill>
                  <a:srgbClr val="003300"/>
                </a:solidFill>
                <a:latin typeface="+mn-lt"/>
              </a:rPr>
              <a:t>Trabajo Práctico N°2</a:t>
            </a:r>
            <a:endParaRPr lang="es-AR" altLang="es-AR" sz="3600" b="1" dirty="0">
              <a:solidFill>
                <a:srgbClr val="003300"/>
              </a:solidFill>
              <a:latin typeface="+mn-lt"/>
            </a:endParaRPr>
          </a:p>
        </p:txBody>
      </p:sp>
      <p:sp>
        <p:nvSpPr>
          <p:cNvPr id="8" name="Flecha: hacia la izquierda 7">
            <a:extLst>
              <a:ext uri="{FF2B5EF4-FFF2-40B4-BE49-F238E27FC236}">
                <a16:creationId xmlns:a16="http://schemas.microsoft.com/office/drawing/2014/main" id="{F9797A24-C2A4-48F3-8D5C-74BE275B4A2D}"/>
              </a:ext>
            </a:extLst>
          </p:cNvPr>
          <p:cNvSpPr/>
          <p:nvPr/>
        </p:nvSpPr>
        <p:spPr>
          <a:xfrm>
            <a:off x="6096000" y="3429000"/>
            <a:ext cx="993169" cy="23887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2F7C919-694E-4F8D-A74D-A9B8DBC0B9CD}"/>
              </a:ext>
            </a:extLst>
          </p:cNvPr>
          <p:cNvSpPr/>
          <p:nvPr/>
        </p:nvSpPr>
        <p:spPr>
          <a:xfrm>
            <a:off x="7205446" y="3313931"/>
            <a:ext cx="3514103" cy="70788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Trabajar en este directorio </a:t>
            </a:r>
          </a:p>
          <a:p>
            <a:pPr algn="ctr"/>
            <a:r>
              <a:rPr lang="es-E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por ahora</a:t>
            </a:r>
          </a:p>
        </p:txBody>
      </p:sp>
    </p:spTree>
    <p:extLst>
      <p:ext uri="{BB962C8B-B14F-4D97-AF65-F5344CB8AC3E}">
        <p14:creationId xmlns:p14="http://schemas.microsoft.com/office/powerpoint/2010/main" val="3193308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Red Pill And Blue Pill Iphone Wallpaper - XFXWallpapers">
            <a:extLst>
              <a:ext uri="{FF2B5EF4-FFF2-40B4-BE49-F238E27FC236}">
                <a16:creationId xmlns:a16="http://schemas.microsoft.com/office/drawing/2014/main" id="{5B12CC2E-E975-69FB-88EE-8C8E6F2AEB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99" t="39500" r="53801" b="39747"/>
          <a:stretch/>
        </p:blipFill>
        <p:spPr bwMode="auto">
          <a:xfrm>
            <a:off x="1589899" y="240910"/>
            <a:ext cx="792088" cy="1423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ubtítulo 2">
            <a:extLst>
              <a:ext uri="{FF2B5EF4-FFF2-40B4-BE49-F238E27FC236}">
                <a16:creationId xmlns:a16="http://schemas.microsoft.com/office/drawing/2014/main" id="{6B1FB1BF-D74A-CFDD-95E6-28B829BA14CB}"/>
              </a:ext>
            </a:extLst>
          </p:cNvPr>
          <p:cNvSpPr txBox="1">
            <a:spLocks/>
          </p:cNvSpPr>
          <p:nvPr/>
        </p:nvSpPr>
        <p:spPr>
          <a:xfrm>
            <a:off x="733865" y="2276158"/>
            <a:ext cx="10058400" cy="648512"/>
          </a:xfrm>
          <a:prstGeom prst="rect">
            <a:avLst/>
          </a:prstGeom>
          <a:noFill/>
          <a:ln w="15875" cap="rnd" cmpd="sng" algn="ctr"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  <a:defRPr/>
            </a:pPr>
            <a:r>
              <a:rPr lang="es-ES" sz="3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YouYuan" panose="02010509060101010101" pitchFamily="49" charset="-122"/>
                <a:cs typeface="+mj-cs"/>
              </a:rPr>
              <a:t>Circuito del ESP32 Físico:</a:t>
            </a:r>
            <a:endParaRPr lang="es-ES" sz="4000" dirty="0">
              <a:solidFill>
                <a:srgbClr val="003300"/>
              </a:solidFill>
              <a:ea typeface="YouYuan" panose="02010509060101010101" pitchFamily="49" charset="-122"/>
              <a:cs typeface="+mj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4D1AB719-1C27-BE15-6B54-51335A02F85E}"/>
              </a:ext>
            </a:extLst>
          </p:cNvPr>
          <p:cNvSpPr txBox="1">
            <a:spLocks/>
          </p:cNvSpPr>
          <p:nvPr/>
        </p:nvSpPr>
        <p:spPr>
          <a:xfrm>
            <a:off x="1066800" y="2944126"/>
            <a:ext cx="10058400" cy="644610"/>
          </a:xfrm>
          <a:prstGeom prst="rect">
            <a:avLst/>
          </a:prstGeom>
          <a:noFill/>
          <a:ln w="15875" cap="rnd" cmpd="sng" algn="ctr"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4000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Pasar el circuito </a:t>
            </a:r>
            <a:r>
              <a:rPr lang="es-ES" sz="4000" b="1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Completo</a:t>
            </a:r>
            <a:r>
              <a:rPr lang="es-ES" sz="4000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 de Wowki a la placa física ESP32</a:t>
            </a:r>
          </a:p>
          <a:p>
            <a:pPr marL="457200" lvl="1" indent="0" algn="ctr">
              <a:buNone/>
              <a:defRPr/>
            </a:pPr>
            <a:endParaRPr lang="es-ES" sz="3800" dirty="0">
              <a:solidFill>
                <a:srgbClr val="003300"/>
              </a:solidFill>
              <a:ea typeface="YouYuan" panose="02010509060101010101" pitchFamily="49" charset="-122"/>
              <a:cs typeface="+mj-cs"/>
            </a:endParaRPr>
          </a:p>
          <a:p>
            <a:pPr algn="ctr">
              <a:defRPr/>
            </a:pPr>
            <a:endParaRPr lang="es-ES" sz="4000" dirty="0">
              <a:solidFill>
                <a:srgbClr val="003300"/>
              </a:solidFill>
              <a:ea typeface="YouYuan" panose="02010509060101010101" pitchFamily="49" charset="-122"/>
              <a:cs typeface="+mj-cs"/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49ED1C39-B4F7-4424-C782-A91E84AC8611}"/>
              </a:ext>
            </a:extLst>
          </p:cNvPr>
          <p:cNvSpPr txBox="1">
            <a:spLocks/>
          </p:cNvSpPr>
          <p:nvPr/>
        </p:nvSpPr>
        <p:spPr>
          <a:xfrm>
            <a:off x="623618" y="3760591"/>
            <a:ext cx="10058400" cy="648512"/>
          </a:xfrm>
          <a:prstGeom prst="rect">
            <a:avLst/>
          </a:prstGeom>
          <a:noFill/>
          <a:ln w="15875" cap="rnd" cmpd="sng" algn="ctr"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  <a:defRPr/>
            </a:pPr>
            <a:r>
              <a:rPr lang="es-ES" sz="3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YouYuan" panose="02010509060101010101" pitchFamily="49" charset="-122"/>
                <a:cs typeface="+mj-cs"/>
              </a:rPr>
              <a:t>Código del ESP32 Físico:</a:t>
            </a:r>
            <a:endParaRPr lang="es-ES" sz="4000" dirty="0">
              <a:solidFill>
                <a:srgbClr val="003300"/>
              </a:solidFill>
              <a:ea typeface="YouYuan" panose="02010509060101010101" pitchFamily="49" charset="-122"/>
              <a:cs typeface="+mj-cs"/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29132047-E8B7-5170-4294-544B0ED4CEC9}"/>
              </a:ext>
            </a:extLst>
          </p:cNvPr>
          <p:cNvSpPr txBox="1">
            <a:spLocks/>
          </p:cNvSpPr>
          <p:nvPr/>
        </p:nvSpPr>
        <p:spPr>
          <a:xfrm>
            <a:off x="1066799" y="4409102"/>
            <a:ext cx="9948153" cy="2148500"/>
          </a:xfrm>
          <a:prstGeom prst="rect">
            <a:avLst/>
          </a:prstGeom>
          <a:noFill/>
          <a:ln w="15875" cap="rnd" cmpd="sng" algn="ctr"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4000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Adaptar la máquina de estados para que </a:t>
            </a:r>
          </a:p>
          <a:p>
            <a:pPr marL="1200150" lvl="1" indent="-742950">
              <a:buFont typeface="+mj-lt"/>
              <a:buAutoNum type="alphaUcPeriod"/>
              <a:defRPr/>
            </a:pPr>
            <a:r>
              <a:rPr lang="es-ES" sz="3800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Cuando se reciba un comando por </a:t>
            </a:r>
            <a:r>
              <a:rPr lang="es-ES" sz="3800" dirty="0" err="1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por</a:t>
            </a:r>
            <a:r>
              <a:rPr lang="es-ES" sz="3800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 Wifi , ESP32 realice una acción</a:t>
            </a:r>
          </a:p>
          <a:p>
            <a:pPr marL="1200150" lvl="1" indent="-742950">
              <a:buFont typeface="+mj-lt"/>
              <a:buAutoNum type="alphaUcPeriod"/>
              <a:defRPr/>
            </a:pPr>
            <a:r>
              <a:rPr lang="es-ES" sz="3800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Informe por Wifi el valor de un sensor</a:t>
            </a:r>
          </a:p>
          <a:p>
            <a:pPr>
              <a:defRPr/>
            </a:pPr>
            <a:r>
              <a:rPr lang="es-ES" sz="4000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Instalar la app </a:t>
            </a:r>
            <a:r>
              <a:rPr lang="es-ES" sz="4000" b="1" dirty="0" err="1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MyMqtt</a:t>
            </a:r>
            <a:r>
              <a:rPr lang="es-ES" sz="4000" b="1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” </a:t>
            </a:r>
            <a:r>
              <a:rPr lang="es-ES" sz="4000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en el Smartphone y hacer pruebas de conectividad</a:t>
            </a:r>
          </a:p>
          <a:p>
            <a:pPr>
              <a:defRPr/>
            </a:pPr>
            <a:r>
              <a:rPr lang="es-ES" sz="4000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Utilizar la biblioteca </a:t>
            </a:r>
            <a:r>
              <a:rPr lang="es-ES" sz="4000" dirty="0" err="1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Metrics.h</a:t>
            </a:r>
            <a:endParaRPr lang="es-ES" sz="4000" dirty="0">
              <a:solidFill>
                <a:schemeClr val="tx1"/>
              </a:solidFill>
              <a:ea typeface="YouYuan" panose="02010509060101010101" pitchFamily="49" charset="-122"/>
              <a:cs typeface="+mj-cs"/>
            </a:endParaRPr>
          </a:p>
          <a:p>
            <a:pPr>
              <a:defRPr/>
            </a:pPr>
            <a:endParaRPr lang="es-ES" sz="4000" dirty="0">
              <a:solidFill>
                <a:schemeClr val="tx1"/>
              </a:solidFill>
              <a:ea typeface="YouYuan" panose="02010509060101010101" pitchFamily="49" charset="-122"/>
              <a:cs typeface="+mj-cs"/>
            </a:endParaRPr>
          </a:p>
          <a:p>
            <a:pPr marL="457200" lvl="1" indent="0" algn="ctr">
              <a:buNone/>
              <a:defRPr/>
            </a:pPr>
            <a:endParaRPr lang="es-ES" sz="3800" dirty="0">
              <a:solidFill>
                <a:srgbClr val="003300"/>
              </a:solidFill>
              <a:ea typeface="YouYuan" panose="02010509060101010101" pitchFamily="49" charset="-122"/>
              <a:cs typeface="+mj-cs"/>
            </a:endParaRPr>
          </a:p>
          <a:p>
            <a:pPr algn="ctr">
              <a:defRPr/>
            </a:pPr>
            <a:endParaRPr lang="es-ES" sz="4000" dirty="0">
              <a:solidFill>
                <a:srgbClr val="003300"/>
              </a:solidFill>
              <a:ea typeface="YouYuan" panose="02010509060101010101" pitchFamily="49" charset="-122"/>
              <a:cs typeface="+mj-cs"/>
            </a:endParaRPr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2D699D9D-9AB0-630C-ECBE-82164EFA2045}"/>
              </a:ext>
            </a:extLst>
          </p:cNvPr>
          <p:cNvSpPr txBox="1">
            <a:spLocks/>
          </p:cNvSpPr>
          <p:nvPr/>
        </p:nvSpPr>
        <p:spPr>
          <a:xfrm>
            <a:off x="4594698" y="1617918"/>
            <a:ext cx="2778868" cy="648512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  <a:defRPr/>
            </a:pPr>
            <a:r>
              <a:rPr lang="es-ES" sz="3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YouYuan" panose="02010509060101010101" pitchFamily="49" charset="-122"/>
                <a:cs typeface="+mj-cs"/>
              </a:rPr>
              <a:t>Parte 1</a:t>
            </a:r>
            <a:endParaRPr lang="es-ES" sz="4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ea typeface="YouYuan" panose="02010509060101010101" pitchFamily="49" charset="-122"/>
              <a:cs typeface="+mj-cs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36C83001-2519-26F7-D34C-C241FCDEC9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338" y="188913"/>
            <a:ext cx="12192000" cy="1423179"/>
          </a:xfrm>
        </p:spPr>
        <p:txBody>
          <a:bodyPr>
            <a:normAutofit/>
          </a:bodyPr>
          <a:lstStyle/>
          <a:p>
            <a:pPr algn="ctr">
              <a:defRPr/>
            </a:pPr>
            <a:br>
              <a:rPr lang="es-ES" altLang="es-AR" sz="4000" b="1" dirty="0">
                <a:solidFill>
                  <a:srgbClr val="003300"/>
                </a:solidFill>
                <a:latin typeface="+mn-lt"/>
              </a:rPr>
            </a:br>
            <a:r>
              <a:rPr lang="es-ES" altLang="es-AR" sz="4000" b="1" dirty="0">
                <a:solidFill>
                  <a:srgbClr val="003300"/>
                </a:solidFill>
                <a:latin typeface="+mn-lt"/>
              </a:rPr>
              <a:t>Trabajo Práctico N°2</a:t>
            </a:r>
            <a:endParaRPr lang="es-AR" altLang="es-AR" sz="3600" b="1" dirty="0">
              <a:solidFill>
                <a:srgbClr val="0033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3689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Red Pill And Blue Pill Iphone Wallpaper - XFXWallpapers">
            <a:extLst>
              <a:ext uri="{FF2B5EF4-FFF2-40B4-BE49-F238E27FC236}">
                <a16:creationId xmlns:a16="http://schemas.microsoft.com/office/drawing/2014/main" id="{5B12CC2E-E975-69FB-88EE-8C8E6F2AEB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99" t="39500" r="53801" b="39747"/>
          <a:stretch/>
        </p:blipFill>
        <p:spPr bwMode="auto">
          <a:xfrm>
            <a:off x="1589899" y="240910"/>
            <a:ext cx="792088" cy="1423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ubtítulo 2">
            <a:extLst>
              <a:ext uri="{FF2B5EF4-FFF2-40B4-BE49-F238E27FC236}">
                <a16:creationId xmlns:a16="http://schemas.microsoft.com/office/drawing/2014/main" id="{6B1FB1BF-D74A-CFDD-95E6-28B829BA14CB}"/>
              </a:ext>
            </a:extLst>
          </p:cNvPr>
          <p:cNvSpPr txBox="1">
            <a:spLocks/>
          </p:cNvSpPr>
          <p:nvPr/>
        </p:nvSpPr>
        <p:spPr>
          <a:xfrm>
            <a:off x="733865" y="2193776"/>
            <a:ext cx="10058400" cy="648512"/>
          </a:xfrm>
          <a:prstGeom prst="rect">
            <a:avLst/>
          </a:prstGeom>
          <a:noFill/>
          <a:ln w="15875" cap="rnd" cmpd="sng" algn="ctr"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  <a:defRPr/>
            </a:pPr>
            <a:r>
              <a:rPr lang="es-ES" sz="3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YouYuan" panose="02010509060101010101" pitchFamily="49" charset="-122"/>
                <a:cs typeface="+mj-cs"/>
              </a:rPr>
              <a:t>Código de Android</a:t>
            </a:r>
            <a:endParaRPr lang="es-ES" sz="4000" dirty="0">
              <a:solidFill>
                <a:srgbClr val="003300"/>
              </a:solidFill>
              <a:ea typeface="YouYuan" panose="02010509060101010101" pitchFamily="49" charset="-122"/>
              <a:cs typeface="+mj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4D1AB719-1C27-BE15-6B54-51335A02F85E}"/>
              </a:ext>
            </a:extLst>
          </p:cNvPr>
          <p:cNvSpPr txBox="1">
            <a:spLocks/>
          </p:cNvSpPr>
          <p:nvPr/>
        </p:nvSpPr>
        <p:spPr>
          <a:xfrm>
            <a:off x="1011676" y="2756438"/>
            <a:ext cx="10058400" cy="1805624"/>
          </a:xfrm>
          <a:prstGeom prst="rect">
            <a:avLst/>
          </a:prstGeom>
          <a:noFill/>
          <a:ln w="15875" cap="rnd" cmpd="sng" algn="ctr"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2900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Hacer los </a:t>
            </a:r>
            <a:r>
              <a:rPr lang="es-ES" sz="2900" dirty="0" err="1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layouts</a:t>
            </a:r>
            <a:r>
              <a:rPr lang="es-ES" sz="2900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 de la aplicación Android, acorde a la temática elegida en el TP1</a:t>
            </a:r>
          </a:p>
          <a:p>
            <a:pPr>
              <a:defRPr/>
            </a:pPr>
            <a:r>
              <a:rPr lang="es-ES" sz="2900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La aplicación debe tener como mínimo dos Activities.</a:t>
            </a:r>
          </a:p>
          <a:p>
            <a:pPr marL="1200150" lvl="1" indent="-742950">
              <a:buFont typeface="+mj-lt"/>
              <a:buAutoNum type="arabicPeriod"/>
              <a:defRPr/>
            </a:pPr>
            <a:r>
              <a:rPr lang="es-ES" sz="2900" b="1" u="sng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1° Activity:</a:t>
            </a:r>
            <a:r>
              <a:rPr lang="es-ES" sz="2900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 Con un botón y un campo de texto </a:t>
            </a:r>
          </a:p>
          <a:p>
            <a:pPr marL="1200150" lvl="1" indent="-742950">
              <a:buFont typeface="+mj-lt"/>
              <a:buAutoNum type="arabicPeriod"/>
              <a:defRPr/>
            </a:pPr>
            <a:r>
              <a:rPr lang="es-ES" sz="2900" b="1" u="sng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2° Activity: </a:t>
            </a:r>
            <a:r>
              <a:rPr lang="es-ES" sz="2900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Que utilice al menos un sensor del Smartphone, que realice alguna acción en el celular o en Arduino.</a:t>
            </a:r>
          </a:p>
          <a:p>
            <a:pPr lvl="1">
              <a:defRPr/>
            </a:pPr>
            <a:endParaRPr lang="es-ES" sz="3800" dirty="0">
              <a:solidFill>
                <a:schemeClr val="tx1"/>
              </a:solidFill>
              <a:ea typeface="YouYuan" panose="02010509060101010101" pitchFamily="49" charset="-122"/>
              <a:cs typeface="+mj-cs"/>
            </a:endParaRPr>
          </a:p>
          <a:p>
            <a:pPr algn="ctr">
              <a:defRPr/>
            </a:pPr>
            <a:endParaRPr lang="es-ES" sz="4000" dirty="0">
              <a:solidFill>
                <a:srgbClr val="003300"/>
              </a:solidFill>
              <a:ea typeface="YouYuan" panose="02010509060101010101" pitchFamily="49" charset="-122"/>
              <a:cs typeface="+mj-cs"/>
            </a:endParaRPr>
          </a:p>
          <a:p>
            <a:pPr algn="ctr">
              <a:defRPr/>
            </a:pPr>
            <a:endParaRPr lang="es-ES" sz="4000" dirty="0">
              <a:solidFill>
                <a:srgbClr val="003300"/>
              </a:solidFill>
              <a:ea typeface="YouYuan" panose="02010509060101010101" pitchFamily="49" charset="-122"/>
              <a:cs typeface="+mj-cs"/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49ED1C39-B4F7-4424-C782-A91E84AC8611}"/>
              </a:ext>
            </a:extLst>
          </p:cNvPr>
          <p:cNvSpPr txBox="1">
            <a:spLocks/>
          </p:cNvSpPr>
          <p:nvPr/>
        </p:nvSpPr>
        <p:spPr>
          <a:xfrm>
            <a:off x="733865" y="4885705"/>
            <a:ext cx="10058400" cy="648512"/>
          </a:xfrm>
          <a:prstGeom prst="rect">
            <a:avLst/>
          </a:prstGeom>
          <a:noFill/>
          <a:ln w="15875" cap="rnd" cmpd="sng" algn="ctr"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  <a:defRPr/>
            </a:pPr>
            <a:r>
              <a:rPr lang="es-ES" sz="3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YouYuan" panose="02010509060101010101" pitchFamily="49" charset="-122"/>
                <a:cs typeface="+mj-cs"/>
              </a:rPr>
              <a:t>Formato de Entrega Parte 1</a:t>
            </a:r>
          </a:p>
          <a:p>
            <a:pPr marL="457200" lvl="1" indent="0">
              <a:buNone/>
              <a:defRPr/>
            </a:pPr>
            <a:endParaRPr lang="es-ES" sz="4000" dirty="0">
              <a:solidFill>
                <a:srgbClr val="003300"/>
              </a:solidFill>
              <a:ea typeface="YouYuan" panose="02010509060101010101" pitchFamily="49" charset="-122"/>
              <a:cs typeface="+mj-cs"/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29132047-E8B7-5170-4294-544B0ED4CEC9}"/>
              </a:ext>
            </a:extLst>
          </p:cNvPr>
          <p:cNvSpPr txBox="1">
            <a:spLocks/>
          </p:cNvSpPr>
          <p:nvPr/>
        </p:nvSpPr>
        <p:spPr>
          <a:xfrm>
            <a:off x="1066800" y="5508327"/>
            <a:ext cx="9948153" cy="1271853"/>
          </a:xfrm>
          <a:prstGeom prst="rect">
            <a:avLst/>
          </a:prstGeom>
          <a:noFill/>
          <a:ln w="15875" cap="rnd" cmpd="sng" algn="ctr"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s-ES" sz="4000" dirty="0">
              <a:solidFill>
                <a:srgbClr val="003300"/>
              </a:solidFill>
              <a:ea typeface="YouYuan" panose="02010509060101010101" pitchFamily="49" charset="-122"/>
              <a:cs typeface="+mj-cs"/>
            </a:endParaRPr>
          </a:p>
          <a:p>
            <a:pPr marL="457200" lvl="1" indent="0" algn="ctr">
              <a:buNone/>
              <a:defRPr/>
            </a:pPr>
            <a:endParaRPr lang="es-ES" sz="3800" dirty="0">
              <a:solidFill>
                <a:srgbClr val="003300"/>
              </a:solidFill>
              <a:ea typeface="YouYuan" panose="02010509060101010101" pitchFamily="49" charset="-122"/>
              <a:cs typeface="+mj-cs"/>
            </a:endParaRPr>
          </a:p>
          <a:p>
            <a:pPr algn="ctr">
              <a:defRPr/>
            </a:pPr>
            <a:endParaRPr lang="es-ES" sz="4000" dirty="0">
              <a:solidFill>
                <a:srgbClr val="003300"/>
              </a:solidFill>
              <a:ea typeface="YouYuan" panose="02010509060101010101" pitchFamily="49" charset="-122"/>
              <a:cs typeface="+mj-cs"/>
            </a:endParaRPr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2D699D9D-9AB0-630C-ECBE-82164EFA2045}"/>
              </a:ext>
            </a:extLst>
          </p:cNvPr>
          <p:cNvSpPr txBox="1">
            <a:spLocks/>
          </p:cNvSpPr>
          <p:nvPr/>
        </p:nvSpPr>
        <p:spPr>
          <a:xfrm>
            <a:off x="4524794" y="1479878"/>
            <a:ext cx="2778868" cy="648512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  <a:defRPr/>
            </a:pPr>
            <a:r>
              <a:rPr lang="es-ES" sz="3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YouYuan" panose="02010509060101010101" pitchFamily="49" charset="-122"/>
                <a:cs typeface="+mj-cs"/>
              </a:rPr>
              <a:t>Parte 1</a:t>
            </a:r>
            <a:endParaRPr lang="es-ES" sz="4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ea typeface="YouYuan" panose="02010509060101010101" pitchFamily="49" charset="-122"/>
              <a:cs typeface="+mj-cs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27F9B1E-4F29-5E8E-1C33-1EAEE7FA94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338" y="188913"/>
            <a:ext cx="12192000" cy="1423179"/>
          </a:xfrm>
        </p:spPr>
        <p:txBody>
          <a:bodyPr>
            <a:normAutofit/>
          </a:bodyPr>
          <a:lstStyle/>
          <a:p>
            <a:pPr algn="ctr">
              <a:defRPr/>
            </a:pPr>
            <a:br>
              <a:rPr lang="es-ES" altLang="es-AR" sz="4000" b="1" dirty="0">
                <a:solidFill>
                  <a:srgbClr val="003300"/>
                </a:solidFill>
                <a:latin typeface="+mn-lt"/>
              </a:rPr>
            </a:br>
            <a:r>
              <a:rPr lang="es-ES" altLang="es-AR" sz="4000" b="1" dirty="0">
                <a:solidFill>
                  <a:srgbClr val="003300"/>
                </a:solidFill>
                <a:latin typeface="+mn-lt"/>
              </a:rPr>
              <a:t>Trabajo Práctico N°2</a:t>
            </a:r>
            <a:endParaRPr lang="es-AR" altLang="es-AR" sz="3600" b="1" dirty="0">
              <a:solidFill>
                <a:srgbClr val="003300"/>
              </a:solidFill>
              <a:latin typeface="+mn-lt"/>
            </a:endParaRPr>
          </a:p>
        </p:txBody>
      </p:sp>
      <p:sp>
        <p:nvSpPr>
          <p:cNvPr id="2" name="Subtítulo 2">
            <a:extLst>
              <a:ext uri="{FF2B5EF4-FFF2-40B4-BE49-F238E27FC236}">
                <a16:creationId xmlns:a16="http://schemas.microsoft.com/office/drawing/2014/main" id="{97FCE44C-C805-28A6-4CB4-9240D8E7873D}"/>
              </a:ext>
            </a:extLst>
          </p:cNvPr>
          <p:cNvSpPr txBox="1">
            <a:spLocks/>
          </p:cNvSpPr>
          <p:nvPr/>
        </p:nvSpPr>
        <p:spPr>
          <a:xfrm>
            <a:off x="1011676" y="5209961"/>
            <a:ext cx="10058400" cy="1805624"/>
          </a:xfrm>
          <a:prstGeom prst="rect">
            <a:avLst/>
          </a:prstGeom>
          <a:noFill/>
          <a:ln w="15875" cap="rnd" cmpd="sng" algn="ctr"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s-AR" dirty="0">
              <a:solidFill>
                <a:srgbClr val="003300"/>
              </a:solidFill>
              <a:ea typeface="YouYuan" panose="02010509060101010101" pitchFamily="49" charset="-122"/>
              <a:cs typeface="+mj-cs"/>
            </a:endParaRPr>
          </a:p>
          <a:p>
            <a:r>
              <a:rPr lang="es-MX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El circuito físico, junto con la conexión con el cliente ESP32 descargado de la Playstore, deberá ser mostrado en clase a los docentes en la fecha de entrega</a:t>
            </a:r>
          </a:p>
          <a:p>
            <a:pPr lvl="1">
              <a:defRPr/>
            </a:pPr>
            <a:endParaRPr lang="es-ES" sz="3800" dirty="0">
              <a:solidFill>
                <a:srgbClr val="003300"/>
              </a:solidFill>
              <a:ea typeface="YouYuan" panose="02010509060101010101" pitchFamily="49" charset="-122"/>
              <a:cs typeface="+mj-cs"/>
            </a:endParaRPr>
          </a:p>
          <a:p>
            <a:pPr algn="ctr">
              <a:defRPr/>
            </a:pPr>
            <a:endParaRPr lang="es-ES" sz="4000" dirty="0">
              <a:solidFill>
                <a:srgbClr val="003300"/>
              </a:solidFill>
              <a:ea typeface="YouYuan" panose="02010509060101010101" pitchFamily="49" charset="-122"/>
              <a:cs typeface="+mj-cs"/>
            </a:endParaRPr>
          </a:p>
          <a:p>
            <a:pPr algn="ctr">
              <a:defRPr/>
            </a:pPr>
            <a:endParaRPr lang="es-ES" sz="4000" dirty="0">
              <a:solidFill>
                <a:srgbClr val="003300"/>
              </a:solidFill>
              <a:ea typeface="YouYuan" panose="02010509060101010101" pitchFamily="49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8449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Red Pill And Blue Pill Iphone Wallpaper - XFXWallpapers">
            <a:extLst>
              <a:ext uri="{FF2B5EF4-FFF2-40B4-BE49-F238E27FC236}">
                <a16:creationId xmlns:a16="http://schemas.microsoft.com/office/drawing/2014/main" id="{5B12CC2E-E975-69FB-88EE-8C8E6F2AEB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99" t="39500" r="53801" b="39747"/>
          <a:stretch/>
        </p:blipFill>
        <p:spPr bwMode="auto">
          <a:xfrm>
            <a:off x="1589899" y="240910"/>
            <a:ext cx="792088" cy="1423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ubtítulo 2">
            <a:extLst>
              <a:ext uri="{FF2B5EF4-FFF2-40B4-BE49-F238E27FC236}">
                <a16:creationId xmlns:a16="http://schemas.microsoft.com/office/drawing/2014/main" id="{6B1FB1BF-D74A-CFDD-95E6-28B829BA14CB}"/>
              </a:ext>
            </a:extLst>
          </p:cNvPr>
          <p:cNvSpPr txBox="1">
            <a:spLocks/>
          </p:cNvSpPr>
          <p:nvPr/>
        </p:nvSpPr>
        <p:spPr>
          <a:xfrm>
            <a:off x="733865" y="2276158"/>
            <a:ext cx="10058400" cy="648512"/>
          </a:xfrm>
          <a:prstGeom prst="rect">
            <a:avLst/>
          </a:prstGeom>
          <a:noFill/>
          <a:ln w="15875" cap="rnd" cmpd="sng" algn="ctr"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  <a:defRPr/>
            </a:pPr>
            <a:r>
              <a:rPr lang="es-ES" sz="3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YouYuan" panose="02010509060101010101" pitchFamily="49" charset="-122"/>
                <a:cs typeface="+mj-cs"/>
              </a:rPr>
              <a:t>Código de Android</a:t>
            </a:r>
            <a:endParaRPr lang="es-ES" sz="4000" dirty="0">
              <a:solidFill>
                <a:srgbClr val="003300"/>
              </a:solidFill>
              <a:ea typeface="YouYuan" panose="02010509060101010101" pitchFamily="49" charset="-122"/>
              <a:cs typeface="+mj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4D1AB719-1C27-BE15-6B54-51335A02F85E}"/>
              </a:ext>
            </a:extLst>
          </p:cNvPr>
          <p:cNvSpPr txBox="1">
            <a:spLocks/>
          </p:cNvSpPr>
          <p:nvPr/>
        </p:nvSpPr>
        <p:spPr>
          <a:xfrm>
            <a:off x="1011676" y="2875144"/>
            <a:ext cx="10058400" cy="1741478"/>
          </a:xfrm>
          <a:prstGeom prst="rect">
            <a:avLst/>
          </a:prstGeom>
          <a:noFill/>
          <a:ln w="15875" cap="rnd" cmpd="sng" algn="ctr"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2900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Completar la primera Activity para que 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s-ES" sz="2700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Envíe el comando Wifi desarrollado en la primera parte, al presionar el botón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s-ES" sz="2700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Muestre el valor del sensor de Arduino, enviado por Wifi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s-ES" sz="2700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Se puede codificar en Java/</a:t>
            </a:r>
            <a:r>
              <a:rPr lang="es-ES" sz="2700" dirty="0" err="1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Kotlin</a:t>
            </a:r>
            <a:endParaRPr lang="es-ES" sz="2700" dirty="0">
              <a:solidFill>
                <a:schemeClr val="tx1"/>
              </a:solidFill>
              <a:ea typeface="YouYuan" panose="02010509060101010101" pitchFamily="49" charset="-122"/>
              <a:cs typeface="+mj-cs"/>
            </a:endParaRPr>
          </a:p>
          <a:p>
            <a:pPr marL="971550" lvl="1" indent="-514350">
              <a:buFont typeface="+mj-lt"/>
              <a:buAutoNum type="arabicPeriod"/>
              <a:defRPr/>
            </a:pPr>
            <a:endParaRPr lang="es-ES" sz="2700" dirty="0">
              <a:solidFill>
                <a:srgbClr val="003300"/>
              </a:solidFill>
              <a:ea typeface="YouYuan" panose="02010509060101010101" pitchFamily="49" charset="-122"/>
              <a:cs typeface="+mj-cs"/>
            </a:endParaRPr>
          </a:p>
          <a:p>
            <a:pPr marL="1200150" lvl="1" indent="-742950">
              <a:buFont typeface="+mj-lt"/>
              <a:buAutoNum type="arabicPeriod"/>
              <a:defRPr/>
            </a:pPr>
            <a:endParaRPr lang="es-ES" sz="3800" dirty="0">
              <a:solidFill>
                <a:srgbClr val="003300"/>
              </a:solidFill>
              <a:ea typeface="YouYuan" panose="02010509060101010101" pitchFamily="49" charset="-122"/>
              <a:cs typeface="+mj-cs"/>
            </a:endParaRPr>
          </a:p>
          <a:p>
            <a:pPr algn="ctr">
              <a:defRPr/>
            </a:pPr>
            <a:endParaRPr lang="es-ES" sz="4000" dirty="0">
              <a:solidFill>
                <a:srgbClr val="003300"/>
              </a:solidFill>
              <a:ea typeface="YouYuan" panose="02010509060101010101" pitchFamily="49" charset="-122"/>
              <a:cs typeface="+mj-cs"/>
            </a:endParaRPr>
          </a:p>
          <a:p>
            <a:pPr algn="ctr">
              <a:defRPr/>
            </a:pPr>
            <a:endParaRPr lang="es-ES" sz="4000" dirty="0">
              <a:solidFill>
                <a:srgbClr val="003300"/>
              </a:solidFill>
              <a:ea typeface="YouYuan" panose="02010509060101010101" pitchFamily="49" charset="-122"/>
              <a:cs typeface="+mj-cs"/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49ED1C39-B4F7-4424-C782-A91E84AC8611}"/>
              </a:ext>
            </a:extLst>
          </p:cNvPr>
          <p:cNvSpPr txBox="1">
            <a:spLocks/>
          </p:cNvSpPr>
          <p:nvPr/>
        </p:nvSpPr>
        <p:spPr>
          <a:xfrm>
            <a:off x="733865" y="4496590"/>
            <a:ext cx="10058400" cy="648512"/>
          </a:xfrm>
          <a:prstGeom prst="rect">
            <a:avLst/>
          </a:prstGeom>
          <a:noFill/>
          <a:ln w="15875" cap="rnd" cmpd="sng" algn="ctr"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  <a:defRPr/>
            </a:pPr>
            <a:r>
              <a:rPr lang="es-ES" sz="3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YouYuan" panose="02010509060101010101" pitchFamily="49" charset="-122"/>
                <a:cs typeface="+mj-cs"/>
              </a:rPr>
              <a:t>Informe Parte 2</a:t>
            </a:r>
            <a:endParaRPr lang="es-ES" sz="4000" dirty="0">
              <a:solidFill>
                <a:srgbClr val="003300"/>
              </a:solidFill>
              <a:ea typeface="YouYuan" panose="02010509060101010101" pitchFamily="49" charset="-122"/>
              <a:cs typeface="+mj-cs"/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29132047-E8B7-5170-4294-544B0ED4CEC9}"/>
              </a:ext>
            </a:extLst>
          </p:cNvPr>
          <p:cNvSpPr txBox="1">
            <a:spLocks/>
          </p:cNvSpPr>
          <p:nvPr/>
        </p:nvSpPr>
        <p:spPr>
          <a:xfrm>
            <a:off x="1066800" y="5274862"/>
            <a:ext cx="9948153" cy="1106483"/>
          </a:xfrm>
          <a:prstGeom prst="rect">
            <a:avLst/>
          </a:prstGeom>
          <a:noFill/>
          <a:ln w="15875" cap="rnd" cmpd="sng" algn="ctr"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2400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Formato paper</a:t>
            </a:r>
          </a:p>
          <a:p>
            <a:pPr>
              <a:defRPr/>
            </a:pPr>
            <a:r>
              <a:rPr lang="es-ES" sz="2400" dirty="0">
                <a:solidFill>
                  <a:schemeClr val="tx1"/>
                </a:solidFill>
                <a:ea typeface="YouYuan" panose="02010509060101010101" pitchFamily="49" charset="-122"/>
                <a:cs typeface="+mj-cs"/>
              </a:rPr>
              <a:t>Tiene que tener (Encabezado, Introducción, Desarrollo, Conclusión y bibliografía)</a:t>
            </a:r>
          </a:p>
          <a:p>
            <a:pPr>
              <a:defRPr/>
            </a:pPr>
            <a:endParaRPr lang="es-ES" sz="4000" dirty="0">
              <a:solidFill>
                <a:srgbClr val="003300"/>
              </a:solidFill>
              <a:ea typeface="YouYuan" panose="02010509060101010101" pitchFamily="49" charset="-122"/>
              <a:cs typeface="+mj-cs"/>
            </a:endParaRPr>
          </a:p>
          <a:p>
            <a:pPr marL="457200" lvl="1" indent="0" algn="ctr">
              <a:buNone/>
              <a:defRPr/>
            </a:pPr>
            <a:endParaRPr lang="es-ES" sz="3800" dirty="0">
              <a:solidFill>
                <a:srgbClr val="003300"/>
              </a:solidFill>
              <a:ea typeface="YouYuan" panose="02010509060101010101" pitchFamily="49" charset="-122"/>
              <a:cs typeface="+mj-cs"/>
            </a:endParaRPr>
          </a:p>
          <a:p>
            <a:pPr algn="ctr">
              <a:defRPr/>
            </a:pPr>
            <a:endParaRPr lang="es-ES" sz="4000" dirty="0">
              <a:solidFill>
                <a:srgbClr val="003300"/>
              </a:solidFill>
              <a:ea typeface="YouYuan" panose="02010509060101010101" pitchFamily="49" charset="-122"/>
              <a:cs typeface="+mj-cs"/>
            </a:endParaRPr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2D699D9D-9AB0-630C-ECBE-82164EFA2045}"/>
              </a:ext>
            </a:extLst>
          </p:cNvPr>
          <p:cNvSpPr txBox="1">
            <a:spLocks/>
          </p:cNvSpPr>
          <p:nvPr/>
        </p:nvSpPr>
        <p:spPr>
          <a:xfrm>
            <a:off x="3721394" y="1612092"/>
            <a:ext cx="4487657" cy="648512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  <a:defRPr/>
            </a:pPr>
            <a:r>
              <a:rPr lang="es-ES" sz="3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YouYuan" panose="02010509060101010101" pitchFamily="49" charset="-122"/>
                <a:cs typeface="+mj-cs"/>
              </a:rPr>
              <a:t>Parte 2 (Integrador)</a:t>
            </a:r>
            <a:endParaRPr lang="es-ES" sz="4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ea typeface="YouYuan" panose="02010509060101010101" pitchFamily="49" charset="-122"/>
              <a:cs typeface="+mj-cs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7915DD7-A25C-FD7A-D568-AF15D42852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338" y="188913"/>
            <a:ext cx="12192000" cy="1423179"/>
          </a:xfrm>
        </p:spPr>
        <p:txBody>
          <a:bodyPr>
            <a:normAutofit/>
          </a:bodyPr>
          <a:lstStyle/>
          <a:p>
            <a:pPr algn="ctr">
              <a:defRPr/>
            </a:pPr>
            <a:br>
              <a:rPr lang="es-ES" altLang="es-AR" sz="4000" b="1" dirty="0">
                <a:solidFill>
                  <a:srgbClr val="003300"/>
                </a:solidFill>
                <a:latin typeface="+mn-lt"/>
              </a:rPr>
            </a:br>
            <a:r>
              <a:rPr lang="es-ES" altLang="es-AR" sz="4000" b="1" dirty="0">
                <a:solidFill>
                  <a:srgbClr val="003300"/>
                </a:solidFill>
                <a:latin typeface="+mn-lt"/>
              </a:rPr>
              <a:t>Trabajo Práctico N°2</a:t>
            </a:r>
            <a:endParaRPr lang="es-AR" altLang="es-AR" sz="3600" b="1" dirty="0">
              <a:solidFill>
                <a:srgbClr val="0033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39685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59D81A-D1B0-4E35-B9AE-C640D9A6F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b="1" dirty="0">
                <a:solidFill>
                  <a:srgbClr val="003300"/>
                </a:solidFill>
                <a:latin typeface="+mn-lt"/>
              </a:rPr>
              <a:t>Uso de la biblioteca </a:t>
            </a:r>
            <a:r>
              <a:rPr lang="es-ES" sz="4000" b="1" dirty="0" err="1">
                <a:solidFill>
                  <a:srgbClr val="003300"/>
                </a:solidFill>
                <a:latin typeface="+mn-lt"/>
              </a:rPr>
              <a:t>Metrics.h</a:t>
            </a:r>
            <a:r>
              <a:rPr lang="es-ES" sz="4000" b="1" dirty="0">
                <a:solidFill>
                  <a:srgbClr val="003300"/>
                </a:solidFill>
                <a:latin typeface="+mn-lt"/>
              </a:rPr>
              <a:t> </a:t>
            </a:r>
            <a:endParaRPr lang="es-AR" sz="4000" b="1" dirty="0">
              <a:solidFill>
                <a:srgbClr val="003300"/>
              </a:solidFill>
              <a:latin typeface="+mn-lt"/>
            </a:endParaRPr>
          </a:p>
        </p:txBody>
      </p:sp>
      <p:pic>
        <p:nvPicPr>
          <p:cNvPr id="4" name="Marcador de contenido 3">
            <a:hlinkClick r:id="rId2"/>
            <a:extLst>
              <a:ext uri="{FF2B5EF4-FFF2-40B4-BE49-F238E27FC236}">
                <a16:creationId xmlns:a16="http://schemas.microsoft.com/office/drawing/2014/main" id="{E73C1EAE-10B8-4B8B-A4B5-39E86A5F2EF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74599" y="2133600"/>
            <a:ext cx="8744628" cy="377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670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6DA004CE-6B0E-4232-BB9F-2C92209EA43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3440" y="1905000"/>
            <a:ext cx="8372949" cy="37782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AEC8EC5B-58C3-4556-94C7-E017F3B4A033}"/>
              </a:ext>
            </a:extLst>
          </p:cNvPr>
          <p:cNvSpPr txBox="1">
            <a:spLocks/>
          </p:cNvSpPr>
          <p:nvPr/>
        </p:nvSpPr>
        <p:spPr>
          <a:xfrm>
            <a:off x="2745325" y="7765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z="4000" b="1">
                <a:solidFill>
                  <a:srgbClr val="003300"/>
                </a:solidFill>
                <a:latin typeface="+mn-lt"/>
              </a:rPr>
              <a:t>Uso de la biblioteca Metrics.h </a:t>
            </a:r>
            <a:endParaRPr lang="es-AR" sz="4000" b="1" dirty="0">
              <a:solidFill>
                <a:srgbClr val="0033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48746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961C27DC-20F2-450F-86AB-862442A35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Realizar la ejecución con el código del proyecto sin </a:t>
            </a:r>
            <a:r>
              <a:rPr lang="es-ES" dirty="0" err="1"/>
              <a:t>vibecoding</a:t>
            </a:r>
            <a:r>
              <a:rPr lang="es-ES" dirty="0"/>
              <a:t> y con Vibecoding</a:t>
            </a:r>
          </a:p>
          <a:p>
            <a:r>
              <a:rPr lang="es-ES" dirty="0"/>
              <a:t>Casos de pruebas de mediciones</a:t>
            </a:r>
          </a:p>
          <a:p>
            <a:pPr lvl="1"/>
            <a:r>
              <a:rPr lang="es-ES" b="1" dirty="0"/>
              <a:t>Reposo del sistema: </a:t>
            </a:r>
          </a:p>
          <a:p>
            <a:pPr lvl="2"/>
            <a:r>
              <a:rPr lang="es-ES" dirty="0"/>
              <a:t>Llamar a </a:t>
            </a:r>
            <a:r>
              <a:rPr lang="es-ES" dirty="0" err="1"/>
              <a:t>finishstats</a:t>
            </a:r>
            <a:r>
              <a:rPr lang="es-ES" dirty="0"/>
              <a:t>() y ejecutar 10 segundos sin interacción del usuario</a:t>
            </a:r>
          </a:p>
          <a:p>
            <a:pPr lvl="1"/>
            <a:r>
              <a:rPr lang="es-ES" b="1" dirty="0"/>
              <a:t>Tras acción especifica</a:t>
            </a:r>
            <a:r>
              <a:rPr lang="es-ES" dirty="0"/>
              <a:t>:</a:t>
            </a:r>
          </a:p>
          <a:p>
            <a:pPr lvl="2"/>
            <a:r>
              <a:rPr lang="es-ES" dirty="0"/>
              <a:t>Llamar a </a:t>
            </a:r>
            <a:r>
              <a:rPr lang="es-ES" dirty="0" err="1"/>
              <a:t>finisshstats</a:t>
            </a:r>
            <a:r>
              <a:rPr lang="es-ES" dirty="0"/>
              <a:t> luego de una acción concreta (leer un sensor, recibir datos de </a:t>
            </a:r>
            <a:r>
              <a:rPr lang="es-ES" dirty="0" err="1"/>
              <a:t>mqtt</a:t>
            </a:r>
            <a:r>
              <a:rPr lang="es-ES" dirty="0"/>
              <a:t>)</a:t>
            </a:r>
          </a:p>
          <a:p>
            <a:endParaRPr lang="es-ES" dirty="0"/>
          </a:p>
          <a:p>
            <a:r>
              <a:rPr lang="es-ES" dirty="0"/>
              <a:t>Guardar los resultados obtenidos en un archivo llamado “</a:t>
            </a:r>
            <a:r>
              <a:rPr lang="es-ES" b="1" i="1" dirty="0" err="1"/>
              <a:t>MetricasCPU</a:t>
            </a:r>
            <a:r>
              <a:rPr lang="es-ES" b="1" i="1" dirty="0"/>
              <a:t>”</a:t>
            </a:r>
            <a:endParaRPr lang="es-ES" i="1" dirty="0"/>
          </a:p>
          <a:p>
            <a:endParaRPr lang="es-ES" dirty="0"/>
          </a:p>
          <a:p>
            <a:pPr lvl="2"/>
            <a:endParaRPr lang="es-A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02D2BD51-59C2-48DE-82FB-9ABEC6185052}"/>
              </a:ext>
            </a:extLst>
          </p:cNvPr>
          <p:cNvSpPr txBox="1">
            <a:spLocks/>
          </p:cNvSpPr>
          <p:nvPr/>
        </p:nvSpPr>
        <p:spPr>
          <a:xfrm>
            <a:off x="2745325" y="7765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z="4000" b="1">
                <a:solidFill>
                  <a:srgbClr val="003300"/>
                </a:solidFill>
                <a:latin typeface="+mn-lt"/>
              </a:rPr>
              <a:t>Uso de la biblioteca Metrics.h </a:t>
            </a:r>
            <a:endParaRPr lang="es-AR" sz="4000" b="1" dirty="0">
              <a:solidFill>
                <a:srgbClr val="0033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21851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2F45866D-C3F5-A94C-AA0E-C3F18ED64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908" y="529687"/>
            <a:ext cx="3503075" cy="1280890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s-MX" dirty="0"/>
              <a:t>¿Preguntas?</a:t>
            </a:r>
            <a:endParaRPr lang="es-AR" dirty="0"/>
          </a:p>
        </p:txBody>
      </p:sp>
      <p:pic>
        <p:nvPicPr>
          <p:cNvPr id="8" name="Imagen 7" descr="Icono&#10;&#10;Descripción generada automáticamente">
            <a:extLst>
              <a:ext uri="{FF2B5EF4-FFF2-40B4-BE49-F238E27FC236}">
                <a16:creationId xmlns:a16="http://schemas.microsoft.com/office/drawing/2014/main" id="{C686ACA6-106C-D24A-B699-31BCA0722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925" y="1810577"/>
            <a:ext cx="7638827" cy="477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800567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818</TotalTime>
  <Words>456</Words>
  <Application>Microsoft Office PowerPoint</Application>
  <PresentationFormat>Panorámica</PresentationFormat>
  <Paragraphs>77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Century Gothic</vt:lpstr>
      <vt:lpstr>Wingdings</vt:lpstr>
      <vt:lpstr>Wingdings 3</vt:lpstr>
      <vt:lpstr>Espiral</vt:lpstr>
      <vt:lpstr>Actividad Práctica sobre</vt:lpstr>
      <vt:lpstr> Actividad Práctica N°2</vt:lpstr>
      <vt:lpstr> Actividad Práctica N°2</vt:lpstr>
      <vt:lpstr> Trabajo Práctico N°2</vt:lpstr>
      <vt:lpstr> Trabajo Práctico N°2</vt:lpstr>
      <vt:lpstr> Trabajo Práctico N°2</vt:lpstr>
      <vt:lpstr> Trabajo Práctico N°2</vt:lpstr>
      <vt:lpstr> Trabajo Práctico N°2</vt:lpstr>
      <vt:lpstr> Trabajo Práctico N°2</vt:lpstr>
      <vt:lpstr> Trabajo Práctico N°2</vt:lpstr>
      <vt:lpstr>Uso de la biblioteca Metrics.h </vt:lpstr>
      <vt:lpstr>Presentación de PowerPoint</vt:lpstr>
      <vt:lpstr>Presentación de PowerPoint</vt:lpstr>
      <vt:lpstr>¿Preguntas?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Operativos Avanzados  (cod. 1123)</dc:title>
  <dc:creator>ESTEBAN CARNUCCIO</dc:creator>
  <cp:lastModifiedBy>ESTEBAN CARNUCCIO</cp:lastModifiedBy>
  <cp:revision>106</cp:revision>
  <dcterms:created xsi:type="dcterms:W3CDTF">2022-05-09T19:25:22Z</dcterms:created>
  <dcterms:modified xsi:type="dcterms:W3CDTF">2025-09-22T19:25:57Z</dcterms:modified>
</cp:coreProperties>
</file>